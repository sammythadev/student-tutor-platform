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img/1543269865-cbf427effbad.jp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309360" y="0"/>
            <a:ext cx="5852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0" y="0"/>
            <a:ext cx="201168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868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FB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UNIVERSITY OF TECHNOLOGY OWERRI  ·  DEPARTMENT OF SOFTWARE ENGINEERING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22960" y="13716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Multi-Criteria Student-Tutor Matchmaking System Using Weighted Scoring and Availability Optimization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822960" y="3767328"/>
            <a:ext cx="109728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97764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Final Year Project Defence - B.Tech (Hons) Software Engineering,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Anumudu Udochukwu Samuel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20211259202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Obi Michael Chimaobi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20211265722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5614416"/>
            <a:ext cx="585216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Supervisor: Engr. Dr. A. I. Erike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6053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NestJS · React · PostgreSQL · Drizzle 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Defence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81328"/>
            <a:ext cx="5239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5239512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70078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18488" y="1719072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&amp;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18488" y="2084832"/>
            <a:ext cx="40507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context, the West African tutoring gap, and the four concrete defects in current matching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481328"/>
            <a:ext cx="5239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81328"/>
            <a:ext cx="523951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70078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719072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084832"/>
            <a:ext cx="40507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Conceptual, theoretical and empirical frames; the research gap this work closes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2962656"/>
            <a:ext cx="5239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962656"/>
            <a:ext cx="5239512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31821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18488" y="3200400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18488" y="3566160"/>
            <a:ext cx="40507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Requirements, the composite scoring model, and the priority-queue greedy algorithm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962656"/>
            <a:ext cx="5239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962656"/>
            <a:ext cx="523951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1821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3200400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566160"/>
            <a:ext cx="40507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architecture, domain-layer algorithm design, database and module design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4443984"/>
            <a:ext cx="5239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443984"/>
            <a:ext cx="5239512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" y="4663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18488" y="4681728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&amp; Results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18488" y="5047488"/>
            <a:ext cx="40507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30-population benchmark, optimality gap, fairness floor, scaling and explainability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4443984"/>
            <a:ext cx="5239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4443984"/>
            <a:ext cx="523951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663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23760" y="4681728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Contribution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5047488"/>
            <a:ext cx="40507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Findings, recommendations, contribution to knowledge, and future work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img/1509062522246-3755977927d7.jp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6858000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23774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2084832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to the Study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3712464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9319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USD 10.4 bn tutoring market, roughly half of it primary and secondary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72.12% of 1.8 m WASSCE 2024 candidates earned five credit passes - down 7.69 points YoY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is still manual, keyword-filtered, or subject-and-availability only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4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Large Market, an Informal Matching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pic>
        <p:nvPicPr>
          <p:cNvPr id="5" name="Image 0" descr="/tmp/deckimg/1509062522246-3755977927d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2" y="1417320"/>
            <a:ext cx="411480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88352" y="4206240"/>
            <a:ext cx="4114800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7" name="Text 4"/>
          <p:cNvSpPr/>
          <p:nvPr/>
        </p:nvSpPr>
        <p:spPr>
          <a:xfrm>
            <a:off x="7571232" y="42062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Secondary-school tutoring demand in Nigeria is driven by exam preparation, not enrichment.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631850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tutoring reached USD 10.4 bn in 2024 and is forecast to nearly double to USD 23.7 bn by 2030 (Grand View Research, 2025); primary and secondary learners drive over half of that demand.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WASSCE 2024: 72.12% of 1.8 m candidates scored credit passes in at least five subjects - a 7.69-point drop from 2023, leaving roughly half a million candidates short in core subjects (Vanguard, 2024).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Personalisation, not content, drives engagement in educational recommender systems (Deschenes, 2020; da Silva et al., 2023; Spivakovsky et al., 2025).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matching is primitive: manual assignment, keyword filtering, or rules over subject and availability only (Taveekarn et al., 2014; Ramesh, 2020).</a:t>
            </a:r>
            <a:endParaRPr lang="en-US" sz="12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ranking effect concentrates demand on popular tutors while new tutors idle (Pitoura et al., 2022), and calendars collide.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4892040"/>
            <a:ext cx="10844784" cy="1207008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4892040"/>
            <a:ext cx="1084478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047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matching problem, not a search problem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35838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Assigning n students to m tutors with capacity limits and conflicting preferences is constrained combinatorial optimisation. Weighted scoring resolves the criteria trade-off; a priority-queue greedy pass with lazy fairness recomputation resolves the allocation at scale.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 STATEMENT OF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Defects in Every Current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81328"/>
            <a:ext cx="52395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523951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0078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18488" y="1737360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matching criteria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18488" y="2121408"/>
            <a:ext cx="4050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Tutor-finder platforms match on subject and time slot and little else. Teaching style, language compatibility, pricing and historical performance are ignored (Taveekarn et al., 2014; Ramesh, 2020).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481328"/>
            <a:ext cx="52395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81328"/>
            <a:ext cx="5239512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70078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1737360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conflicts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121408"/>
            <a:ext cx="4050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tutor's calendar and a student's calendar often fail to overlap, and the same conflict recurs weekly for anyone on a fixed timetable.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429000"/>
            <a:ext cx="52395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29000"/>
            <a:ext cx="5239512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484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18488" y="3685032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Uneven tutor workload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18488" y="4069080"/>
            <a:ext cx="4050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well-ranked tutors are flooded with requests while the rest sit idle - the ranking effect concentrates supply instead of distributing it (Pitoura et al., 2022).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429000"/>
            <a:ext cx="52395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429000"/>
            <a:ext cx="5239512" cy="502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36484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3685032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Opaque recommendations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4069080"/>
            <a:ext cx="4050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failed match costs hours of contact and real money from the paying family, and neither side can see why the pairing was proposed.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 / 1.4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and Research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63040"/>
            <a:ext cx="4988601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4988601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45314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48256"/>
            <a:ext cx="4476537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weighted composite scoring model spanning academic fit, preferences and schedule availability.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capacity-constrained assignment algorithm that accounts for tutor load in real time.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the model as a production web platform on NestJS, React and PostgreSQL.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the algorithm empirically against an exact min-cost-max-flow oracle and three deployed-style baselines.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 the trade-off between match quality, fairness and runtime.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12729" y="1463040"/>
            <a:ext cx="5490423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2729" y="1463040"/>
            <a:ext cx="5490423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1" name="Text 9"/>
          <p:cNvSpPr/>
          <p:nvPr/>
        </p:nvSpPr>
        <p:spPr>
          <a:xfrm>
            <a:off x="6268761" y="1645920"/>
            <a:ext cx="50332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8761" y="2066544"/>
            <a:ext cx="566928" cy="310896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3" name="Text 11"/>
          <p:cNvSpPr/>
          <p:nvPr/>
        </p:nvSpPr>
        <p:spPr>
          <a:xfrm>
            <a:off x="6268761" y="206654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5417" y="2029968"/>
            <a:ext cx="4283415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effective is the composite scoring model at predicting match quality against deployed-style baselines?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8761" y="3035808"/>
            <a:ext cx="566928" cy="310896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6" name="Text 14"/>
          <p:cNvSpPr/>
          <p:nvPr/>
        </p:nvSpPr>
        <p:spPr>
          <a:xfrm>
            <a:off x="6268761" y="3035808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5417" y="2999232"/>
            <a:ext cx="4283415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capacity-aware assignment outperform first-come-first-served and self-selection under contention?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8761" y="4005072"/>
            <a:ext cx="566928" cy="310896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9" name="Text 17"/>
          <p:cNvSpPr/>
          <p:nvPr/>
        </p:nvSpPr>
        <p:spPr>
          <a:xfrm>
            <a:off x="6268761" y="400507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5417" y="3968496"/>
            <a:ext cx="4283415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measured optimality gap of the greedy engine against the exact optimum?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8761" y="4974336"/>
            <a:ext cx="566928" cy="310896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2" name="Text 20"/>
          <p:cNvSpPr/>
          <p:nvPr/>
        </p:nvSpPr>
        <p:spPr>
          <a:xfrm>
            <a:off x="6268761" y="497433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5417" y="4937760"/>
            <a:ext cx="4283415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fairness constraints affect match quality, and what is the price of that fairness?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img/1523240795612-9a054b0db644.jp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6858000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23774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TWO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2084832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3712464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9319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Conceptual: multi-criteria decision-making and weighted scoring models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Theoretical: the proven half-approximation of greedy bipartite matching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Empirical: what 30 studies of educational recommender systems actually do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gap: near-zero direct attempt at tutor allocation itself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4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2.2 - 2.4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Frames, One Unanswered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63040"/>
            <a:ext cx="33710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3371088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645920"/>
            <a:ext cx="2932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F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framework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2011680"/>
            <a:ext cx="29321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Multi-criteria decision-making resolves conflicting suitability criteria through explicit weights (Wang et al., 2023; Hien et al., 2025).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scoring models give a single comparable number per student-tutor pair.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5216" y="1463040"/>
            <a:ext cx="33710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5216" y="1463040"/>
            <a:ext cx="3371088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4614672" y="1645920"/>
            <a:ext cx="2932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Theoretical framework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14672" y="2011680"/>
            <a:ext cx="29321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bipartite matching carries a proven half-approximation guarantee - used directly as the design basis rather than cited as background.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guarantee covers the static-only variant; the shipped engine's fairness term, top-K truncation and hash tie-break fall outside its assumptions.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2064" y="1463040"/>
            <a:ext cx="33710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2064" y="1463040"/>
            <a:ext cx="3371088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8351520" y="1645920"/>
            <a:ext cx="2932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framework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51520" y="2011680"/>
            <a:ext cx="29321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recommender systems overwhelmingly recommend content or resources, not people (da Silva et al., 2023).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tutor allocation is attempted rarely, and where it exists it optimises stability or a single axis.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4187952"/>
            <a:ext cx="10844784" cy="1755648"/>
          </a:xfrm>
          <a:prstGeom prst="rect">
            <a:avLst/>
          </a:prstGeom>
          <a:solidFill>
            <a:srgbClr val="EEF3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87952"/>
            <a:ext cx="10844784" cy="502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3525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RESEARCH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4645152"/>
            <a:ext cx="102961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reviewed system combines a multi-criterion weighted compatibility score, a hard availability constraint, and a load-balancing objective in a single assignment decision - and none of them report their output against an exact optimal-assignment oracle.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2688" y="5230368"/>
            <a:ext cx="102961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work closes that gap: it scores every eligible pair, allocates under capacity, prices fairness explicitly, and validates all three against a min-cost-max-flow oracle and three baseline strategies over 30 independent populations per scenario.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img/1454165804606-c3d57bc86b40.jp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6858000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23774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2084832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3712464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9319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gathered from the platform's tutor, student and admin roles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 scoring model: academic fit, preference fit, schedule fit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Priority-queue greedy assignment with lazy fairness recomputation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plan and the path from model to module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4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Composite Scoring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44752"/>
            <a:ext cx="10844784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44752"/>
            <a:ext cx="1084478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444752"/>
            <a:ext cx="104790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a.A(s,t)  +  b.P(s,t)  +  c.S(s,t)  +  d.F(t)          a + b + c + d = 1 ,  each sub-score in [0,1]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377440"/>
            <a:ext cx="34320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77440"/>
            <a:ext cx="3432048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2542032"/>
            <a:ext cx="3029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- Academic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2926080"/>
            <a:ext cx="302971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 exact subject + specialisation match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 subject matches, stated specialisations do not align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 subject matches, specialisation data missing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Exam-type term: 1.0 supported or unspecified, 0.5 explicit mismatch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Grade-gap term g penalises distance from the nearest supported grade 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2377440"/>
            <a:ext cx="34320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4736" y="2377440"/>
            <a:ext cx="3432048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4565904" y="2542032"/>
            <a:ext cx="3029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- Preference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65904" y="2926080"/>
            <a:ext cx="302971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Style: cosine similarity over one-hot vectors of delivery mode, format and learning style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Budget: 1 if the hourly rate is within budget, linear decay on excess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1 for online or same-region in-person, 0 for mismatch, 0.5 when data is missing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71104" y="2377440"/>
            <a:ext cx="34320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71104" y="2377440"/>
            <a:ext cx="3432048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72272" y="2542032"/>
            <a:ext cx="3029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- Schedule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2272" y="2926080"/>
            <a:ext cx="302971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 between requested slots H_s and available slots H_t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contiguous tutor slot must cover the request; fragments across several slots fail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student with zero declared availability is rejected as an incomplete profile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5358384"/>
            <a:ext cx="10844784" cy="786384"/>
          </a:xfrm>
          <a:prstGeom prst="rect">
            <a:avLst/>
          </a:prstGeom>
          <a:solidFill>
            <a:srgbClr val="EEF3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5358384"/>
            <a:ext cx="10844784" cy="502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58384"/>
            <a:ext cx="10332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Fairness term  F(t) = (1 - load(t)/capacity(t))^1.15 + 0.05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- the 1.15 exponent makes the penalty on heavily loaded tutors slightly super-linear; the 0.05 cold-start boost applies only to a tutor with zero assigned students, nudging unused tutors back into circulation. Default load-factor weight d = 0.05.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Priority-Queue Greedy with Lazy Fairness Recompute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44752"/>
            <a:ext cx="650687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44752"/>
            <a:ext cx="650687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664208"/>
            <a:ext cx="420624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664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08176" y="1554480"/>
            <a:ext cx="55467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eligibility 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08176" y="1810512"/>
            <a:ext cx="554675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tutor must teach one of the student's subjects, support the grade level and exam type, and have spare capacity. Ineligible pairs are never scored and never reach the heap.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2386584"/>
            <a:ext cx="650687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386584"/>
            <a:ext cx="650687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2606040"/>
            <a:ext cx="420624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260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08176" y="2496312"/>
            <a:ext cx="55467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eligible pairs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08176" y="2752344"/>
            <a:ext cx="554675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eligible (student, tutor) pair is scored by the composite model and pushed onto a max-heap keyed by priority.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328416"/>
            <a:ext cx="650687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28416"/>
            <a:ext cx="650687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" y="3547872"/>
            <a:ext cx="420624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3547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08176" y="3438144"/>
            <a:ext cx="55467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 the best pair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3694176"/>
            <a:ext cx="554675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highest-priority pair is assigned, consuming one seat from that tutor's capacity.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4270248"/>
            <a:ext cx="650687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270248"/>
            <a:ext cx="650687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" y="4489704"/>
            <a:ext cx="420624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" y="4489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08176" y="4379976"/>
            <a:ext cx="55467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Recompute lazily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08176" y="4636008"/>
            <a:ext cx="554675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a tutor's load changed, every remaining pair touching that tutor is stale: pop it, re-score it with the fresh F(t), push it back.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5212080"/>
            <a:ext cx="650687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5212080"/>
            <a:ext cx="650687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" y="5431536"/>
            <a:ext cx="420624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" y="5431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08176" y="5321808"/>
            <a:ext cx="55467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the rest unassignable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08176" y="5577840"/>
            <a:ext cx="554675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heap empties with students still unplaced, each is recorded with a structured reason code - never silently dropped.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30998" y="1444752"/>
            <a:ext cx="3972154" cy="2212848"/>
          </a:xfrm>
          <a:prstGeom prst="rect">
            <a:avLst/>
          </a:prstGeom>
          <a:solidFill>
            <a:srgbClr val="EEF3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30998" y="1444752"/>
            <a:ext cx="3972154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7" name="Text 35"/>
          <p:cNvSpPr/>
          <p:nvPr/>
        </p:nvSpPr>
        <p:spPr>
          <a:xfrm>
            <a:off x="7750454" y="1627632"/>
            <a:ext cx="35332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lazy recompute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50454" y="1956816"/>
            <a:ext cx="353324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sorting has a known flaw: a tutor's fairness score is correct only while the tutor has no students. The moment a seat is taken, every cached score for that tutor is stale. Lazy recompute re-pushes only the affected pairs instead of re-sorting the whole candidate set - the fairness term stays exact at a fraction of the cost.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30998" y="3803904"/>
            <a:ext cx="3972154" cy="2340864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30998" y="3803904"/>
            <a:ext cx="397215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1" name="Text 39"/>
          <p:cNvSpPr/>
          <p:nvPr/>
        </p:nvSpPr>
        <p:spPr>
          <a:xfrm>
            <a:off x="7750454" y="3986784"/>
            <a:ext cx="35332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50454" y="4297680"/>
            <a:ext cx="353324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Time: O(S.T) to score eligible pairs, O(E log E) for heap operations, plus lazy re-pushes - O(n^2 log n) overall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Space: O(E) heap entries, one per live candidate pair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Measured: 5,000 students / 500 tutors gives 208,336 pairs scored in 2.28 s mean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img/1518770660439-4636190af475.jp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6858000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23774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FOUR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2084832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Design, Implementation and Evaluation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3712464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9319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NestJS + Drizzle ORM + PostgreSQL, consumed by a React front end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architecture with the algorithm owned by the domain layer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independent populations per scenario, 95% CIs, paired sign tests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against a min-cost-max-flow oracle and three baselines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4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4.2 - 4.4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Architecture, Algorithm in the Domain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81328"/>
            <a:ext cx="250545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2505456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6420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F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tier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048256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 end - tutor, student and admin dashboards - consumes POST /api/matches - renders explainable match reasons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82112" y="23774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38144" y="1481328"/>
            <a:ext cx="250545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144" y="1481328"/>
            <a:ext cx="2505456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66420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tier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21024" y="2048256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NestJS controllers - DTO validation at the boundary - services orchestrate scoring and assignment - typed HTTP exceptions, never bare throws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61888" y="23774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481328"/>
            <a:ext cx="250545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81328"/>
            <a:ext cx="2505456" cy="502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6420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048256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CompositeScorer - GreedyAssignmentEngine (max-heap + lazy fairness) - match rationale builder - capacity and eligibility policy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41664" y="23774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97696" y="1481328"/>
            <a:ext cx="250545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97696" y="1481328"/>
            <a:ext cx="2505456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166420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tier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80576" y="2048256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via Drizzle ORM - schema-first - users, profiles, subjects, availability, capacity, assignments - zero N+1 joins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822192"/>
            <a:ext cx="523951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822192"/>
            <a:ext cx="5239512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986784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matchmaking flow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6112" y="4315968"/>
            <a:ext cx="47640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validates the request and loads the eligible population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Scorer produces a compatibility score and a per-criterion breakdown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allocates under capacity, then runs bounded augmenting-path repair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returns placements, unplaced reason codes and human-readable rationales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822192"/>
            <a:ext cx="5239512" cy="2103120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822192"/>
            <a:ext cx="5239512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0" name="Text 28"/>
          <p:cNvSpPr/>
          <p:nvPr/>
        </p:nvSpPr>
        <p:spPr>
          <a:xfrm>
            <a:off x="6501384" y="3986784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cases handled explicitly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01384" y="4315968"/>
            <a:ext cx="47640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Incomplete profiles rejected: a student with no declared availability never enters the pool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Zero-capacity tutors filtered before scoring, not after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slot coverage fails the contiguous-slot rule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Unassignable students carry a structured reason, never a silent drop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Evaluation Harness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63040"/>
            <a:ext cx="5964631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core/evaluation/evaluation-harness.ts generates synthetic student and tutor populations of configurable size and student:tutor ratio - no live production data required, consistent with the stated limitation in Section 1.6.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scenario families: realistic-seed (50:50, mirroring the platform's actual Nigerian secondary-school seed data and capacity distribution), moderate-* (1.5:1 to 4:1, probing fairness where slack exists but is not unlimited), and stress-sweep (a deliberate 10:1 oversubscription test at four scales).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independent populations per scenario, exploratory seeds 0-29. Every reported mean carries a 95% confidence interval, and every engine-versus-baseline claim is backed by a paired sign test.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exact min-cost-max-flow oracle provides the reference point, and the engine is compared against three deployed-style strategies: filter-only FCFS, score-based self-selection, and student-proposing deferred acceptance.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88759" y="1463040"/>
            <a:ext cx="4514393" cy="1060704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8759" y="1463040"/>
            <a:ext cx="54864" cy="106070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Text 6"/>
          <p:cNvSpPr/>
          <p:nvPr/>
        </p:nvSpPr>
        <p:spPr>
          <a:xfrm>
            <a:off x="7189927" y="1591056"/>
            <a:ext cx="414863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F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89927" y="2084832"/>
            <a:ext cx="4148633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populations per scenario (seeds 0-29)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88759" y="2633472"/>
            <a:ext cx="4514393" cy="1060704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88759" y="2633472"/>
            <a:ext cx="54864" cy="106070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7189927" y="2761488"/>
            <a:ext cx="414863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89927" y="3255264"/>
            <a:ext cx="4148633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interval on every reported mean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88759" y="3803904"/>
            <a:ext cx="4514393" cy="1060704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88759" y="3803904"/>
            <a:ext cx="54864" cy="106070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6" name="Text 14"/>
          <p:cNvSpPr/>
          <p:nvPr/>
        </p:nvSpPr>
        <p:spPr>
          <a:xfrm>
            <a:off x="7189927" y="3931920"/>
            <a:ext cx="414863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89927" y="4425696"/>
            <a:ext cx="4148633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strategies compared, including the exact oracle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88759" y="4974336"/>
            <a:ext cx="4514393" cy="1060704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8759" y="4974336"/>
            <a:ext cx="54864" cy="10607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7189927" y="5102352"/>
            <a:ext cx="414863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89927" y="5596128"/>
            <a:ext cx="4148633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student:tutor regimes: 1:1, 1.5:1, 2:1, 3:1, 10:1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4.10.2  ·  FIGURE F1 / F8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Quality by Strategy, With 95% Confidence Intervals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pic>
        <p:nvPicPr>
          <p:cNvPr id="5" name="Image 0" descr="/home/sammy/sammys-web/student-tutor-platform/backend/docs/benchmarks/figures/f8-quality-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315200" cy="4462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3608" y="1527048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3608" y="1527048"/>
            <a:ext cx="45720" cy="123444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61848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is worth 0.07-0.10 on its own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58200" y="1856232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Filter-only FCFS sits at 0.523-0.526 at every ratio, 0.05-0.18 below the engine - a 10-26% relative reduction. This is the empirical case for scoring at all.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93608" y="2926080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93608" y="2926080"/>
            <a:ext cx="45720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3017520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engine and DA converge under scarcity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58200" y="3255264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10:1 only the capacity-aware strategies place anyone useful: engine 0.7064 vs deferred acceptance 0.7061 vs self-selection 0.5822. Coordination beats greedy choice once seats are contested.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93608" y="4325112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93608" y="4325112"/>
            <a:ext cx="45720" cy="123444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4416552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coverage alongside score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58200" y="4654296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higher mean can coexist with more unplaced students. F4 is reported for exactly this reason - the engine wins on both axes at once.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8368" y="6016752"/>
            <a:ext cx="10844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match score per scenario across 30 independent populations, one line per strategy. Overlapping intervals mean the strategies are not distinguishable at that scenario.   Source: docs/benchmarks/baseline-statistics-results.csv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4.10.5  ·  FIGURE F2 / F9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Baseline Against the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pic>
        <p:nvPicPr>
          <p:cNvPr id="5" name="Image 0" descr="/home/sammy/sammys-web/student-tutor-platform/backend/docs/benchmarks/figures/f9-delta-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315200" cy="4462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3608" y="1527048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3608" y="1527048"/>
            <a:ext cx="45720" cy="123444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61848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FCFS loses everywhere, decisively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58200" y="1856232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-0.046 to -0.182 mean score, p &lt; 0.0001 at all four scenarios. It also gives the most uneven loads when capacity is slack: Jain 0.390 vs the engine's 0.506 at 1:1.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93608" y="2926080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93608" y="2926080"/>
            <a:ext cx="45720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3017520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Self-selection's edge starts at 2:1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58200" y="3255264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Indistinguishable from the engine at 1:1 (+0.0014, p = 0.86) and 1.5:1 (-0.0004, p = 0.86), then behind by 0.019 at 3:1 and 0.124 at 10:1. Early arrivals take seats later students needed more.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93608" y="4325112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93608" y="4325112"/>
            <a:ext cx="45720" cy="123444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4416552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Deferred acceptance is a real rival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58200" y="4654296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0.0004 of the engine at 10:1, but it fixes each pair once and cannot re-balance load as tutors fill. Its fairness lags where capacity is slack.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8368" y="6016752"/>
            <a:ext cx="10844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per-population difference (strategy minus engine) per scenario. The zero line is the engine: lines hugging it are ties. 15 of 27 comparisons are significant at p &lt; 0.05.   Source: baseline-statistics-results.csv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4.10.2  ·  FIGURES F3 &amp; F4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Fairness and Coverage Are Won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pic>
        <p:nvPicPr>
          <p:cNvPr id="5" name="Image 0" descr="/home/sammy/sammys-web/student-tutor-platform/backend/docs/benchmarks/figures/f3-fairness-j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5943600" cy="1829714"/>
          </a:xfrm>
          <a:prstGeom prst="rect">
            <a:avLst/>
          </a:prstGeom>
        </p:spPr>
      </p:pic>
      <p:pic>
        <p:nvPicPr>
          <p:cNvPr id="6" name="Image 1" descr="/home/sammy/sammys-web/student-tutor-platform/backend/docs/benchmarks/figures/f4-cover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375050"/>
            <a:ext cx="5943600" cy="1829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59893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F3 - Jain's fairness index over tutor loads (1.0 = perfectly even)   ·   F4 - share of students that received a placement.   Source: baseline-statistics-results.csv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967728" y="1417320"/>
            <a:ext cx="45354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67728" y="1417320"/>
            <a:ext cx="4535424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6"/>
          <p:cNvSpPr/>
          <p:nvPr/>
        </p:nvSpPr>
        <p:spPr>
          <a:xfrm>
            <a:off x="7187184" y="157276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Fairness - Jain's index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187184" y="1883664"/>
            <a:ext cx="4096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capacity is slack the engine's live fairness term is decisive: 0.506 vs 0.391 (FCFS) and 0.491 (self-selection) at 1:1. At 10:1 every capacity-aware strategy saturates at the 0.833 arithmetic ceiling - fairness there is set by the capacity model, not the algorithm.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67728" y="3840480"/>
            <a:ext cx="4535424" cy="2286000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967728" y="3840480"/>
            <a:ext cx="453542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4" name="Text 10"/>
          <p:cNvSpPr/>
          <p:nvPr/>
        </p:nvSpPr>
        <p:spPr>
          <a:xfrm>
            <a:off x="7187184" y="399592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- share placed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187184" y="4306824"/>
            <a:ext cx="4096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repaired engine places 92.9% of students at 1:1 and 98.1% at 1.5:1, against 91.3% and 95.9% unrepaired - and beats every baseline on both score and coverage. At 3:1 it reaches 82.5% where all four baselines sit between 75.8% and 77.9%.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7" name="Shape 13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4.5.5  ·  FIGURE F5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Close Is the Engine to the True Optimum?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pic>
        <p:nvPicPr>
          <p:cNvPr id="5" name="Image 0" descr="/home/sammy/sammys-web/student-tutor-platform/backend/docs/benchmarks/figures/f5-optimality-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315200" cy="4462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3608" y="1527048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3608" y="1527048"/>
            <a:ext cx="45720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61848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repair: 98.5-99.7% of the oracle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58200" y="1856232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the unsaturated scenarios the repaired engine reaches 98.52-99.75% of the oracle's static total, with coverage within 0.0004-0.0011 of optimal.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93608" y="2926080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93608" y="2926080"/>
            <a:ext cx="45720" cy="123444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3017520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classical half-bound does not apply here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58200" y="3255264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proof covers the static-only variant. The shipped engine deviates three ways - fairness term in the priority, top-K truncation, hash tie-break - so 0.98-1.00 is empirical, not a bound being exceeded. Scoping this correctly was a correction made to the original report.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93608" y="4325112"/>
            <a:ext cx="320954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93608" y="4325112"/>
            <a:ext cx="45720" cy="123444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4416552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Pre-repair the engine leaked placements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58200" y="4654296"/>
            <a:ext cx="289864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100-student instance placed 63 of the 64 students the optimum could. 72-98% of that leak was students whose gate-passing tutors were all full - exactly what bounded augmenting-path repair fixes.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8368" y="6016752"/>
            <a:ext cx="10844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the min-cost-max-flow optimum the greedy engine achieves, by problem size. Worst observed ratio 97.61%.   Source: docs/benchmarks/optimality-gap-results.csv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4.10.2  ·  FIGURES F6 &amp; F7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Candidate-List Size: Where the Plateau Starts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pic>
        <p:nvPicPr>
          <p:cNvPr id="5" name="Image 0" descr="/home/sammy/sammys-web/student-tutor-platform/backend/docs/benchmarks/figures/f6-topk-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5943600" cy="1874520"/>
          </a:xfrm>
          <a:prstGeom prst="rect">
            <a:avLst/>
          </a:prstGeom>
        </p:spPr>
      </p:pic>
      <p:pic>
        <p:nvPicPr>
          <p:cNvPr id="6" name="Image 1" descr="/home/sammy/sammys-web/student-tutor-platform/backend/docs/benchmarks/figures/f7-topk-c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38144"/>
            <a:ext cx="5943600" cy="1874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57790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F6 - mean match score as the candidate list grows   ·   F7 - mean elapsed ms per run as it grows.   Source: topk-sweep-results.csv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967728" y="1417320"/>
            <a:ext cx="4535424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67728" y="1417320"/>
            <a:ext cx="4535424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6"/>
          <p:cNvSpPr/>
          <p:nvPr/>
        </p:nvSpPr>
        <p:spPr>
          <a:xfrm>
            <a:off x="7187184" y="157276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F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plateaus at top-K = 20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187184" y="1883664"/>
            <a:ext cx="4096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1,000 students, top-K 10 scores 0.7123 and top-K 20 scores 0.7124 - a difference of 0.0001. K = 50 and K = infinity return an identical 0.7806 at 2,000 students. Past the plateau, a larger candidate list buys nothing at all.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67728" y="3749040"/>
            <a:ext cx="4535424" cy="2377440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967728" y="3749040"/>
            <a:ext cx="453542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4" name="Text 10"/>
          <p:cNvSpPr/>
          <p:nvPr/>
        </p:nvSpPr>
        <p:spPr>
          <a:xfrm>
            <a:off x="7187184" y="390448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plateau is not free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187184" y="4215384"/>
            <a:ext cx="40965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cost still grows with K. At 1,000 students mean runtime moves 120 / 89 / 74 / 57 ms across K = 10/20/50/infinity; at 2,000 students it is 1,624 / 1,645 / 2,294 / 2,192 ms. K = 20 is the knee: the quality of infinity at a fraction of the scoring cost.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7" name="Shape 13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Scaling: The Greedy Engine vs the Exact 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81328"/>
            <a:ext cx="2231136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81328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/ tutors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44368" y="1481328"/>
            <a:ext cx="1865376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1481328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 / 100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64608" y="1481328"/>
            <a:ext cx="1865376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481328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2,000 / 200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84848" y="1481328"/>
            <a:ext cx="1865376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1481328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 / 500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1993392"/>
            <a:ext cx="223113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993392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runtime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993392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99339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169 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64608" y="1993392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199339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316 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84848" y="1993392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993392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1,619 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2505456"/>
            <a:ext cx="22311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505456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of which scoring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44368" y="2505456"/>
            <a:ext cx="186537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50545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 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64608" y="2505456"/>
            <a:ext cx="186537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50545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215 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84848" y="2505456"/>
            <a:ext cx="186537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250545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1,309 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3017520"/>
            <a:ext cx="223113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01752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Pairs scored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44368" y="3017520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0672" y="301752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3,336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64608" y="3017520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01752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13,336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84848" y="3017520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301752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208,336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" y="3529584"/>
            <a:ext cx="22311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352958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oracle runtime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44368" y="3529584"/>
            <a:ext cx="186537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0672" y="3529584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266 ms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64608" y="3529584"/>
            <a:ext cx="186537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3529584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1,811 ms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84848" y="3529584"/>
            <a:ext cx="186537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3529584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27,228 ms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58368" y="4041648"/>
            <a:ext cx="223113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4041648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cap hit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44368" y="4041648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90672" y="4041648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64608" y="4041648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10912" y="4041648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784848" y="4041648"/>
            <a:ext cx="1865376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31152" y="4041648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933688" y="1481328"/>
            <a:ext cx="25694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33688" y="1481328"/>
            <a:ext cx="2569464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5" name="Text 53"/>
          <p:cNvSpPr/>
          <p:nvPr/>
        </p:nvSpPr>
        <p:spPr>
          <a:xfrm>
            <a:off x="9134856" y="1645920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O(n^2 log n), confirmed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134856" y="201168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Quadratic growth plus a slowly growing log factor. At 5,000 students: 2.28 s mean over five runs, consistent with the theory in 4.5.3.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58368" y="4736592"/>
            <a:ext cx="10844784" cy="1371600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8368" y="4736592"/>
            <a:ext cx="1084478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" y="4882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exact solver is not the product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914400" y="5175504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5,000 students the oracle takes 27.2 s against the engine's 1.6 s - a 16.8x gap - and on unsaturated populations it hits its augmentation cap and is abandoned (capped = 1) at 2,000 students, taking 63.8 s. The oracle is a validation instrument, not a deployment strategy; the engine is what ships.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3" name="Text 61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4.10.2  ·  NEGATIVE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Defect, With Proven Headroom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63040"/>
            <a:ext cx="5856183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worst-placed student still scores only 0.380-0.433 across the unsaturated scenarios while the mean sits near 0.59-0.62. One badly served student is invisible to an average.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does not fix it: the augmenting-path pass adds students, it does not re-rank the ones already seated. The floor is structural, not a leak.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exact theta-constrained solver puts the largest achievable floor at 0.4059-0.4101 across the unsaturated scenarios - 0.0075 to 0.0241 above the repaired engine's own static floor.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price of that fairness is at most 0.0003 of static total per student, inside the pre-registered 0.002 negligibility band, while the exact arm never loses a population on total, coverage or the worst-student metric.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defect in the shipped engine, not a market bound. It is stated as such in the report's correction addendum.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80311" y="1463040"/>
            <a:ext cx="4622841" cy="2542032"/>
          </a:xfrm>
          <a:prstGeom prst="rect">
            <a:avLst/>
          </a:prstGeom>
          <a:solidFill>
            <a:srgbClr val="EEF3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80311" y="1463040"/>
            <a:ext cx="4622841" cy="502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7099767" y="1609344"/>
            <a:ext cx="41839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vs ceiling (static worst-student score)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99767" y="1993392"/>
            <a:ext cx="12551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54946" y="1993392"/>
            <a:ext cx="14643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19321" y="1993392"/>
            <a:ext cx="14643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Ceiling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99767" y="2304288"/>
            <a:ext cx="4183929" cy="18288"/>
          </a:xfrm>
          <a:prstGeom prst="rect">
            <a:avLst/>
          </a:prstGeom>
          <a:solidFill>
            <a:srgbClr val="D8DEE9"/>
          </a:solidFill>
          <a:ln/>
        </p:spPr>
      </p:sp>
      <p:sp>
        <p:nvSpPr>
          <p:cNvPr id="13" name="Text 11"/>
          <p:cNvSpPr/>
          <p:nvPr/>
        </p:nvSpPr>
        <p:spPr>
          <a:xfrm>
            <a:off x="7099767" y="2395728"/>
            <a:ext cx="12551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54946" y="2395728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0.4013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19321" y="2395728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0.4108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99767" y="2688336"/>
            <a:ext cx="12551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1.5:1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4946" y="2688336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0.3856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19321" y="2688336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0.4071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99767" y="2980944"/>
            <a:ext cx="12551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2:1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54946" y="2980944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0.3861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19321" y="2980944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0.3970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99767" y="3273552"/>
            <a:ext cx="12551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54946" y="3273552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0.3802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19321" y="3273552"/>
            <a:ext cx="1464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0.4152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99767" y="3639312"/>
            <a:ext cx="418392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seeds per scenario. Ceiling from an exact theta-constrained min-cost-max-flow solve.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80311" y="4114800"/>
            <a:ext cx="4622841" cy="2057400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0311" y="4114800"/>
            <a:ext cx="4622841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8" name="Text 26"/>
          <p:cNvSpPr/>
          <p:nvPr/>
        </p:nvSpPr>
        <p:spPr>
          <a:xfrm>
            <a:off x="7099767" y="4279392"/>
            <a:ext cx="41839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price-of-fairness frontier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99767" y="4590288"/>
            <a:ext cx="4183929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Raising theta from the engine's own floor to the ceiling lifts the worst student 0.398 to 0.411 at 1:1 while static total per student moves 0.5131 to 0.5148 and coverage is unchanged at 93.2%. The exact arm pays nothing measurable to protect the worst-served student.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 as a Design Requirement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pic>
        <p:nvPicPr>
          <p:cNvPr id="5" name="Image 0" descr="/tmp/deckimg/1577896851231-70ef188817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417320"/>
            <a:ext cx="420624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96912" y="4343400"/>
            <a:ext cx="4206240" cy="5486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7" name="Text 4"/>
          <p:cNvSpPr/>
          <p:nvPr/>
        </p:nvSpPr>
        <p:spPr>
          <a:xfrm>
            <a:off x="7479792" y="4343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match a family cannot interrogate is a match they will not trust.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622706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scorer returns a per-criterion breakdown, not only a composite number: academic fit, preference fit, schedule overlap and the tutor's live load factor are each exposed to the consumer.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unplaced student carries a structured reason code - no tutor eligible, all eligible tutors at capacity, no contiguous slot overlap - so a student sees why, instead of an empty result.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fairness term is surfaced as a tutor-load indicator, which makes the load-balancing behaviour legible to an administrator rather than mysterious.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Rationale text is generated server-side alongside the assignment, so the explanation cannot drift from the computation that produced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8368" y="5029200"/>
            <a:ext cx="10844784" cy="1078992"/>
          </a:xfrm>
          <a:prstGeom prst="rect">
            <a:avLst/>
          </a:prstGeom>
          <a:solidFill>
            <a:srgbClr val="EEF3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5029200"/>
            <a:ext cx="10844784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175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 in this domain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544982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motivating failure is a paying family losing hours of contact and money on a match that never worked. An explanation is the cheapest available defence against that, and it costs one breakdown object per assignment.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img/1571260899304-425eee4c7efc.jp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6858000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23774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FIVE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2084832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Summary, Conclusions and Recommendations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3712464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9319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Findings: what the 30-population evaluation actually established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Conclusions on each research question, including the negative result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for the platform and for practice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to knowledge, and what comes next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4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5.1 - 5.2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Questions, Answered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63040"/>
            <a:ext cx="1084478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10844784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755648"/>
            <a:ext cx="658368" cy="45720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75564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82496" y="164592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scoring model effective?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64608" y="1645920"/>
            <a:ext cx="6409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decisively. Against filter-only FCFS it adds 0.067-0.182 of mean score at every ratio (p &lt; 0.0001), and it is the only mechanism here that accounts for style, language, budget and region at all.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615184"/>
            <a:ext cx="1084478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615184"/>
            <a:ext cx="10844784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" y="2907792"/>
            <a:ext cx="658368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90779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82496" y="2798064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capacity-aware assignment win under contention?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64608" y="2798064"/>
            <a:ext cx="6409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where supply is abundant - self-selection is indistinguishable from the engine at 1:1 and 1.5:1 (p = 0.86). From 2:1 onward the engine leads by 0.019 at 3:1 and 0.124 at 10:1, and places more students in every unsaturated scenario.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767328"/>
            <a:ext cx="1084478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767328"/>
            <a:ext cx="1084478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" y="4059936"/>
            <a:ext cx="658368" cy="4572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059936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82496" y="39502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measured optimality gap?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64608" y="3950208"/>
            <a:ext cx="6409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97.61% at the worst tested instance before repair; 98.52-99.75% of the oracle's static total after it, with coverage within 0.0004-0.0011 of optimal. Empirical, not a proven bound.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919472"/>
            <a:ext cx="1084478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919472"/>
            <a:ext cx="10844784" cy="502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5" name="Shape 23"/>
          <p:cNvSpPr/>
          <p:nvPr/>
        </p:nvSpPr>
        <p:spPr>
          <a:xfrm>
            <a:off x="877824" y="5212080"/>
            <a:ext cx="658368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521208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82496" y="510235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price of fairness?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64608" y="5102352"/>
            <a:ext cx="6409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and measurable. Load-aware fairness costs 0.012-0.023 in mean score at 2:1-3:1 while raising Jain's index from 0.714 to 0.730 and lifting coverage. Protecting the worst student costs at most 0.0003 per student.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844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5.3 - 5.5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10844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Recommendations, Contribution and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058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63040"/>
            <a:ext cx="523951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5239512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27632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640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top-K = 20 as the default candidate-list size - the quality knee, at a fraction of infinity's scoring cost.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 the theta-constrained exact floor as a nightly offline recomputation, not a request-path step.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load factor weight at d = 0.05; the sweep shows no higher setting pays for itself.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239512" cy="2212848"/>
          </a:xfrm>
          <a:prstGeom prst="rect">
            <a:avLst/>
          </a:prstGeom>
          <a:solidFill>
            <a:srgbClr val="EEF3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5239512" cy="502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6501384" y="1627632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to knowledge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01384" y="1975104"/>
            <a:ext cx="47640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scoring-plus-availability matching model whose fairness term is made exact at run time by lazy recomputation, rather than approximated by static sorting.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honest account of two claims that did not survive scrutiny - the half-approximation and the 'greedy places 59 of 64' figure - rescoped and reported as empirical.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840480"/>
            <a:ext cx="10844784" cy="2286000"/>
          </a:xfrm>
          <a:prstGeom prst="rect">
            <a:avLst/>
          </a:prstGeom>
          <a:solidFill>
            <a:srgbClr val="FDF6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840480"/>
            <a:ext cx="10844784" cy="502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050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37083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718304"/>
            <a:ext cx="326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static composite with a learned compatibility model, keeping the fairness term exogenous so the guarantee is not traded away for accuracy.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50080" y="437083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50080" y="4718304"/>
            <a:ext cx="326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the theta-constraint from the worst student to a full equity profile - per-region, per-subject and per-income-band placement floors.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85760" y="437083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85760" y="4718304"/>
            <a:ext cx="326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seeded synthetic populations with the platform's own anonymised assignment history, and re-run the same 30-population protocol as a live A/B test.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55664"/>
            <a:ext cx="146304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4556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Student-Tutor Matchmaking System  ·  B.Tech Software Engineering  ·  FUTO Owerri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556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img/1517486808906-6ca8b3f04846.jp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6446520" y="0"/>
            <a:ext cx="5715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23560" y="0"/>
            <a:ext cx="1920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7FD4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Defence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868680" y="2743200"/>
            <a:ext cx="109728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figures in this deck regenerate from docs/benchmarks/ via pnpm run eval:all. Every number quoted is traceable to a CSV in that directory.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Anumudu Udochukwu Samuel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Obi Michael Chimaobi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Supervisor: Engr. Dr. A. I. Erike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2026-09-28T11:29:59Z</dcterms:created>
  <dcterms:modified xsi:type="dcterms:W3CDTF">2026-09-28T11:29:59Z</dcterms:modified>
</cp:coreProperties>
</file>