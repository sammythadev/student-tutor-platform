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5F5C"/>
          </a:solidFill>
          <a:ln w="12700">
            <a:solidFill>
              <a:srgbClr val="0E5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868680"/>
            <a:ext cx="8406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spc="120" kern="0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FEDERAL UNIVERSITY OF TECHNOLOGY OWERRI  /  DEPARTMENT OF SOFTWARE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93634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60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Multi-Criteria</a:t>
            </a:r>
            <a:endParaRPr lang="en-US" sz="4600" dirty="0"/>
          </a:p>
          <a:p>
            <a:pPr algn="l" indent="0" marL="0">
              <a:lnSpc>
                <a:spcPts val="5400"/>
              </a:lnSpc>
              <a:buNone/>
            </a:pPr>
            <a:r>
              <a:rPr lang="en-US" sz="460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Student–Tutor Matchmaking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68680" y="3200400"/>
            <a:ext cx="1737360" cy="64008"/>
          </a:xfrm>
          <a:prstGeom prst="rect">
            <a:avLst/>
          </a:prstGeom>
          <a:solidFill>
            <a:srgbClr val="2F9C93"/>
          </a:solidFill>
          <a:ln w="12700">
            <a:solidFill>
              <a:srgbClr val="2F9C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429000"/>
            <a:ext cx="8406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EB7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scoring, hard availability and load-aware fairness — validated against an exact optimum.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32420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b="1" spc="120" kern="0" dirty="0">
                <a:solidFill>
                  <a:srgbClr val="6B73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90288"/>
            <a:ext cx="32420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Anumudu Udochukwu Samuel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" y="4956048"/>
            <a:ext cx="32420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EB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 20211259202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83050" y="4343400"/>
            <a:ext cx="32420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b="1" spc="120" kern="0" dirty="0">
                <a:solidFill>
                  <a:srgbClr val="6B73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3050" y="4590288"/>
            <a:ext cx="32420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Obi Michael Chimaobi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283050" y="4956048"/>
            <a:ext cx="32420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EB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 20211265722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108899" y="4343400"/>
            <a:ext cx="32420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b="1" spc="120" kern="0" dirty="0">
                <a:solidFill>
                  <a:srgbClr val="6B73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108899" y="4590288"/>
            <a:ext cx="32420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Engr. Dr. A. I. Erike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108899" y="4956048"/>
            <a:ext cx="32420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EB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DEPT. OF SOFTWARE ENGINEERING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554126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01314"/>
          </a:solidFill>
          <a:ln w="12700">
            <a:solidFill>
              <a:srgbClr val="2B31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5412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110" kern="0" dirty="0">
                <a:solidFill>
                  <a:srgbClr val="AEB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NESTJS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88336" y="554126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01314"/>
          </a:solidFill>
          <a:ln w="12700">
            <a:solidFill>
              <a:srgbClr val="2B31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8336" y="55412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110" kern="0" dirty="0">
                <a:solidFill>
                  <a:srgbClr val="AEB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19472" y="554126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01314"/>
          </a:solidFill>
          <a:ln w="12700">
            <a:solidFill>
              <a:srgbClr val="2B31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55412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110" kern="0" dirty="0">
                <a:solidFill>
                  <a:srgbClr val="AEB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50608" y="554126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01314"/>
          </a:solidFill>
          <a:ln w="12700">
            <a:solidFill>
              <a:srgbClr val="2B31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55412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110" kern="0" dirty="0">
                <a:solidFill>
                  <a:srgbClr val="AEB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DRIZZLE ORM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381744" y="5541264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01314"/>
          </a:solidFill>
          <a:ln w="12700">
            <a:solidFill>
              <a:srgbClr val="2B31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81744" y="55412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110" kern="0" dirty="0">
                <a:solidFill>
                  <a:srgbClr val="AEB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6199632"/>
            <a:ext cx="11276381" cy="0"/>
          </a:xfrm>
          <a:prstGeom prst="line">
            <a:avLst/>
          </a:prstGeom>
          <a:noFill/>
          <a:ln w="12700">
            <a:solidFill>
              <a:srgbClr val="2B31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272784"/>
            <a:ext cx="112763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spc="100" kern="0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YEAR PROJECT DEFENCE  ·  B.TECH (HONS) SOFTWARE ENGINEERING  ·  JULY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94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PROBLEM DEFINITION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638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Four defects break tutor matching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6494069" cy="3749040"/>
          </a:xfrm>
          <a:prstGeom prst="roundRect">
            <a:avLst>
              <a:gd name="adj" fmla="val 4878"/>
            </a:avLst>
          </a:prstGeom>
          <a:solidFill>
            <a:srgbClr val="101314"/>
          </a:solidFill>
          <a:ln w="12700">
            <a:solidFill>
              <a:srgbClr val="1013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36246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 01 — THE DEFAULT BEHAVIOUR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57288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5800" dirty="0">
                <a:solidFill>
                  <a:srgbClr val="2F9C93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57288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0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Subject-only filtering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3639312"/>
            <a:ext cx="57288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EB7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Platforms match on the subject line and a free time slot, then stop. Teaching style, language, budget and track record never enter the decision.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718304"/>
            <a:ext cx="5728899" cy="0"/>
          </a:xfrm>
          <a:prstGeom prst="line">
            <a:avLst/>
          </a:prstGeom>
          <a:noFill/>
          <a:ln w="12700">
            <a:solidFill>
              <a:srgbClr val="2B3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28032"/>
            <a:ext cx="5728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spc="90" kern="0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IGNORED TODAY:  STYLE  /  LANGUAGE  /  BUDGET  /  TRACK RECORD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152437" y="1600200"/>
            <a:ext cx="4581144" cy="1115568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45045" y="1746504"/>
            <a:ext cx="36246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 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45045" y="1965960"/>
            <a:ext cx="3911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Recurring calendar clashes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45045" y="2295144"/>
            <a:ext cx="3911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weekly timetable with no contiguous overlap is booked anyway — the same clash returns next week.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52437" y="2916936"/>
            <a:ext cx="4581144" cy="1115568"/>
          </a:xfrm>
          <a:prstGeom prst="roundRect">
            <a:avLst>
              <a:gd name="adj" fmla="val 16393"/>
            </a:avLst>
          </a:prstGeom>
          <a:solidFill>
            <a:srgbClr val="EDE7DD"/>
          </a:solidFill>
          <a:ln w="12700">
            <a:solidFill>
              <a:srgbClr val="EDE7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5045" y="3063240"/>
            <a:ext cx="36246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 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45045" y="3282696"/>
            <a:ext cx="3911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Winner-takes-most tutors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45045" y="3611880"/>
            <a:ext cx="3911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floods a few popular profiles while qualified tutors sit idle, then churn off the platform.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52437" y="4233672"/>
            <a:ext cx="4581144" cy="1115568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5045" y="4379976"/>
            <a:ext cx="36246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 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45045" y="4599432"/>
            <a:ext cx="39116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Matches nobody can explain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45045" y="4928616"/>
            <a:ext cx="3911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failed pairing costs a paying family real money, and neither side can see why it happened.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6437376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7450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80" kern="0" dirty="0">
                <a:solidFill>
                  <a:srgbClr val="9A9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STUDENT-TUTOR MATCHMAKING / B.TECH SOFTWARE ENGINEERING / FUTO OWERRI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978286" y="6492240"/>
            <a:ext cx="755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94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AIM AND RESEARCH QUESTIONS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638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engine that scores, allocates and proves itself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6494069" cy="3749040"/>
          </a:xfrm>
          <a:prstGeom prst="roundRect">
            <a:avLst>
              <a:gd name="adj" fmla="val 4878"/>
            </a:avLst>
          </a:prstGeom>
          <a:solidFill>
            <a:srgbClr val="EDE7DD"/>
          </a:solidFill>
          <a:ln w="12700">
            <a:solidFill>
              <a:srgbClr val="EDE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4708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99616" y="1828800"/>
            <a:ext cx="3624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9616" y="2157984"/>
            <a:ext cx="4963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composite model over academic fit, learner preference and schedule availability.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6384" y="2798064"/>
            <a:ext cx="592019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98094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99616" y="2962656"/>
            <a:ext cx="3624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Allocate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99616" y="3291840"/>
            <a:ext cx="4963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capacity-aware engine that reacts to live tutor load instead of a frozen ranking.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" y="3931920"/>
            <a:ext cx="592019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11480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99616" y="4096512"/>
            <a:ext cx="3624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Prove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99616" y="4425696"/>
            <a:ext cx="4963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against an exact min-cost-flow oracle and three deployed-style baselines.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52437" y="1600200"/>
            <a:ext cx="4581144" cy="859536"/>
          </a:xfrm>
          <a:prstGeom prst="roundRect">
            <a:avLst>
              <a:gd name="adj" fmla="val 21277"/>
            </a:avLst>
          </a:prstGeom>
          <a:solidFill>
            <a:srgbClr val="DCE9E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2437" y="1746504"/>
            <a:ext cx="45720" cy="566928"/>
          </a:xfrm>
          <a:prstGeom prst="rect">
            <a:avLst/>
          </a:prstGeom>
          <a:solidFill>
            <a:srgbClr val="0E5F5C"/>
          </a:solidFill>
          <a:ln w="12700">
            <a:solidFill>
              <a:srgbClr val="0E5F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5045" y="1746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45045" y="2020824"/>
            <a:ext cx="39116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18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composite scoring beat deployed-style baselines?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52437" y="2587752"/>
            <a:ext cx="4581144" cy="859536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2437" y="2734056"/>
            <a:ext cx="45720" cy="566928"/>
          </a:xfrm>
          <a:prstGeom prst="rect">
            <a:avLst/>
          </a:prstGeom>
          <a:solidFill>
            <a:srgbClr val="0E5F5C"/>
          </a:solidFill>
          <a:ln w="12700">
            <a:solidFill>
              <a:srgbClr val="0E5F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45045" y="27340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45045" y="3008376"/>
            <a:ext cx="39116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18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capacity-aware assignment win under contention?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52437" y="3575304"/>
            <a:ext cx="4581144" cy="859536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52437" y="3721608"/>
            <a:ext cx="45720" cy="566928"/>
          </a:xfrm>
          <a:prstGeom prst="rect">
            <a:avLst/>
          </a:prstGeom>
          <a:solidFill>
            <a:srgbClr val="0E5F5C"/>
          </a:solidFill>
          <a:ln w="12700">
            <a:solidFill>
              <a:srgbClr val="0E5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5045" y="37216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45045" y="3995928"/>
            <a:ext cx="39116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18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far is the greedy engine from the exact optimum?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52437" y="4562856"/>
            <a:ext cx="4581144" cy="859536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2437" y="4709160"/>
            <a:ext cx="45720" cy="566928"/>
          </a:xfrm>
          <a:prstGeom prst="rect">
            <a:avLst/>
          </a:prstGeom>
          <a:solidFill>
            <a:srgbClr val="0E5F5C"/>
          </a:solidFill>
          <a:ln w="12700">
            <a:solidFill>
              <a:srgbClr val="0E5F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45045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45045" y="4983480"/>
            <a:ext cx="39116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18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fairness cost in match quality?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6437376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7450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80" kern="0" dirty="0">
                <a:solidFill>
                  <a:srgbClr val="9A9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STUDENT-TUTOR MATCHMAKING / B.TECH SOFTWARE ENGINEERING / FUTO OWERRI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978286" y="6492240"/>
            <a:ext cx="755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94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LITERATURE AND THE RESEARCH GAP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638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Nothing reviewed scores, schedules and balances at once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5537606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28800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5F63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EXISTS TODAY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" y="2176272"/>
            <a:ext cx="4868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MCDM prices trade-offs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" y="2468880"/>
            <a:ext cx="4868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multi-criteria scoring resolves conflicting criteria using explicit weights.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6384" y="2907792"/>
            <a:ext cx="4868083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035808"/>
            <a:ext cx="4868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Static matching only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" y="3328416"/>
            <a:ext cx="4868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Greedy bipartite matching carries a proof — for the static variant alone.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" y="3767328"/>
            <a:ext cx="4868083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895344"/>
            <a:ext cx="4868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Content, not people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86384" y="4187952"/>
            <a:ext cx="4868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Educational recommenders recommend resources, almost never human tutors.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5974" y="1600200"/>
            <a:ext cx="5537606" cy="3200400"/>
          </a:xfrm>
          <a:prstGeom prst="roundRect">
            <a:avLst>
              <a:gd name="adj" fmla="val 5714"/>
            </a:avLst>
          </a:prstGeom>
          <a:solidFill>
            <a:srgbClr val="101314"/>
          </a:solidFill>
          <a:ln w="12700">
            <a:solidFill>
              <a:srgbClr val="1013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5158" y="1828800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THIS WORK ADDS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25158" y="2176272"/>
            <a:ext cx="4868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decision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25158" y="2468880"/>
            <a:ext cx="4868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7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Compatibility, hard availability and load balancing resolved in a single pass.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25158" y="2907792"/>
            <a:ext cx="4868083" cy="0"/>
          </a:xfrm>
          <a:prstGeom prst="line">
            <a:avLst/>
          </a:prstGeom>
          <a:noFill/>
          <a:ln w="12700">
            <a:solidFill>
              <a:srgbClr val="2B31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5158" y="3035808"/>
            <a:ext cx="4868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Exact fairness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25158" y="3328416"/>
            <a:ext cx="4868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7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fairness term stays exact at run time through lazy recomputation.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25158" y="3767328"/>
            <a:ext cx="4868083" cy="0"/>
          </a:xfrm>
          <a:prstGeom prst="line">
            <a:avLst/>
          </a:prstGeom>
          <a:noFill/>
          <a:ln w="12700">
            <a:solidFill>
              <a:srgbClr val="2B31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5158" y="3895344"/>
            <a:ext cx="48680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Measured honestly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25158" y="4187952"/>
            <a:ext cx="48680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7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checked against an exact oracle and three baselines, 30 times.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5010912"/>
            <a:ext cx="11276381" cy="896112"/>
          </a:xfrm>
          <a:prstGeom prst="roundRect">
            <a:avLst>
              <a:gd name="adj" fmla="val 20408"/>
            </a:avLst>
          </a:prstGeom>
          <a:solidFill>
            <a:srgbClr val="DCE9E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175504"/>
            <a:ext cx="45720" cy="566928"/>
          </a:xfrm>
          <a:prstGeom prst="rect">
            <a:avLst/>
          </a:prstGeom>
          <a:solidFill>
            <a:srgbClr val="0E5F5C"/>
          </a:solidFill>
          <a:ln w="12700">
            <a:solidFill>
              <a:srgbClr val="0E5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5175504"/>
            <a:ext cx="17117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28800" y="5138928"/>
            <a:ext cx="9363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reviewed system combines all three objectives in one decision — and none reports what its allocation actually beat.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6437376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7450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80" kern="0" dirty="0">
                <a:solidFill>
                  <a:srgbClr val="9A9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STUDENT-TUTOR MATCHMAKING / B.TECH SOFTWARE ENGINEERING / FUTO OWERRI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978286" y="6492240"/>
            <a:ext cx="755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94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SYSTEM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638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Three tiers — the algorithm sits in a pure domain layer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11276381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46504"/>
            <a:ext cx="45720" cy="758952"/>
          </a:xfrm>
          <a:prstGeom prst="rect">
            <a:avLst/>
          </a:prstGeom>
          <a:solidFill>
            <a:srgbClr val="0E5F5C"/>
          </a:solidFill>
          <a:ln w="12700">
            <a:solidFill>
              <a:srgbClr val="0E5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764792"/>
            <a:ext cx="26682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2020824"/>
            <a:ext cx="305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Presentation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06240" y="187452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client with student, tutor and admin portals · intake, booking and allocation oversight.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464040" y="1874520"/>
            <a:ext cx="180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750" spc="40" kern="0" dirty="0">
                <a:solidFill>
                  <a:srgbClr val="9A9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/ TAILWIND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11276381" cy="1051560"/>
          </a:xfrm>
          <a:prstGeom prst="roundRect">
            <a:avLst>
              <a:gd name="adj" fmla="val 17391"/>
            </a:avLst>
          </a:prstGeom>
          <a:solidFill>
            <a:srgbClr val="101314"/>
          </a:solidFill>
          <a:ln w="12700">
            <a:solidFill>
              <a:srgbClr val="1013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99232"/>
            <a:ext cx="45720" cy="758952"/>
          </a:xfrm>
          <a:prstGeom prst="rect">
            <a:avLst/>
          </a:prstGeom>
          <a:solidFill>
            <a:srgbClr val="2F9C93"/>
          </a:solidFill>
          <a:ln w="12700">
            <a:solidFill>
              <a:srgbClr val="2F9C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017520"/>
            <a:ext cx="26682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b="1" spc="120" kern="0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2 — THE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6384" y="3273552"/>
            <a:ext cx="305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Domain layer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06240" y="3127248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7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Composite scorer · binary max-heap allocator · lazy fairness recompute. Pure TypeScript with zero framework imports.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464040" y="3127248"/>
            <a:ext cx="180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750" spc="40" kern="0" dirty="0">
                <a:solidFill>
                  <a:srgbClr val="6B73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PURE TYPESCRIPT / PORTABLE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4105656"/>
            <a:ext cx="11276381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51960"/>
            <a:ext cx="45720" cy="758952"/>
          </a:xfrm>
          <a:prstGeom prst="rect">
            <a:avLst/>
          </a:prstGeom>
          <a:solidFill>
            <a:srgbClr val="0E5F5C"/>
          </a:solidFill>
          <a:ln w="12700">
            <a:solidFill>
              <a:srgbClr val="0E5F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270248"/>
            <a:ext cx="26682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6384" y="4526280"/>
            <a:ext cx="305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Persistence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06240" y="4379976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NestJS services over Drizzle ORM and PostgreSQL · typed schema, recurring slots, auditable placement log.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464040" y="4379976"/>
            <a:ext cx="18074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750" spc="40" kern="0" dirty="0">
                <a:solidFill>
                  <a:srgbClr val="9A9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NESTJS / DRIZZLE / POSTGRES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5358384"/>
            <a:ext cx="11276381" cy="841248"/>
          </a:xfrm>
          <a:prstGeom prst="roundRect">
            <a:avLst>
              <a:gd name="adj" fmla="val 21739"/>
            </a:avLst>
          </a:prstGeom>
          <a:solidFill>
            <a:srgbClr val="DCE9E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5468112"/>
            <a:ext cx="20943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DECISION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86384" y="5724144"/>
            <a:ext cx="105112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013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engineering rules live in one importable module — the API and the offline benchmark harness run byte-identical logic.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6437376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7450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80" kern="0" dirty="0">
                <a:solidFill>
                  <a:srgbClr val="9A9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STUDENT-TUTOR MATCHMAKING / B.TECH SOFTWARE ENGINEERING / FUTO OWERRI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978286" y="6492240"/>
            <a:ext cx="755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94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METHODOLOGY · COMPOSITE SCORING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638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Four weighted sub-scores become one comparable number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11276381" cy="1051560"/>
          </a:xfrm>
          <a:prstGeom prst="roundRect">
            <a:avLst>
              <a:gd name="adj" fmla="val 17391"/>
            </a:avLst>
          </a:prstGeom>
          <a:solidFill>
            <a:srgbClr val="101314"/>
          </a:solidFill>
          <a:ln w="12700">
            <a:solidFill>
              <a:srgbClr val="1013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7450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score(s,t) = αA + βP + γS + δF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7450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spc="80" kern="0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 SUM TO 1  ·  SUB-SCORES IN [0,1]  ·  DEFAULT δ = 0.05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235440" y="1737360"/>
            <a:ext cx="190304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AEB7B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per pair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98064"/>
            <a:ext cx="4581144" cy="2139696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999232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A(s,t)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3438144"/>
            <a:ext cx="3995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Academic fit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3840480"/>
            <a:ext cx="3995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and specialisation agreement, exam type and a grade-gap penalty.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4553712"/>
            <a:ext cx="3995928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645152"/>
            <a:ext cx="3995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40" kern="0" dirty="0">
                <a:solidFill>
                  <a:srgbClr val="8B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 1.0 / RELATED 0.7 / UNKNOWN 0.5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239512" y="2798064"/>
            <a:ext cx="3624682" cy="2139696"/>
          </a:xfrm>
          <a:prstGeom prst="roundRect">
            <a:avLst>
              <a:gd name="adj" fmla="val 8547"/>
            </a:avLst>
          </a:prstGeom>
          <a:solidFill>
            <a:srgbClr val="EDE7DD"/>
          </a:solidFill>
          <a:ln w="12700">
            <a:solidFill>
              <a:srgbClr val="EDE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999232"/>
            <a:ext cx="3039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P(s,t)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32120" y="3438144"/>
            <a:ext cx="3039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Preference fit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3840480"/>
            <a:ext cx="30394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Delivery-style similarity, budget fit with decay, region or online format.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32120" y="4553712"/>
            <a:ext cx="3039466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4645152"/>
            <a:ext cx="30394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40" kern="0" dirty="0">
                <a:solidFill>
                  <a:srgbClr val="8B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WITHIN BUDGET = 1.0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065362" y="2798064"/>
            <a:ext cx="2668219" cy="2139696"/>
          </a:xfrm>
          <a:prstGeom prst="roundRect">
            <a:avLst>
              <a:gd name="adj" fmla="val 8547"/>
            </a:avLst>
          </a:prstGeom>
          <a:solidFill>
            <a:srgbClr val="EDE7DD"/>
          </a:solidFill>
          <a:ln w="12700">
            <a:solidFill>
              <a:srgbClr val="EDE7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57970" y="2999232"/>
            <a:ext cx="2083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S(s,t)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57970" y="3438144"/>
            <a:ext cx="20830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Schedule fit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57970" y="3840480"/>
            <a:ext cx="20830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Contiguous weekly overlap between requested and free slots; fragments fail.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57970" y="4553712"/>
            <a:ext cx="2083003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57970" y="4645152"/>
            <a:ext cx="20830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40" kern="0" dirty="0">
                <a:solidFill>
                  <a:srgbClr val="8B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OVERLAP = 0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5120640"/>
            <a:ext cx="11276381" cy="822960"/>
          </a:xfrm>
          <a:prstGeom prst="roundRect">
            <a:avLst>
              <a:gd name="adj" fmla="val 22222"/>
            </a:avLst>
          </a:prstGeom>
          <a:solidFill>
            <a:srgbClr val="DCE9E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5230368"/>
            <a:ext cx="26682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F(t)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6384" y="5522976"/>
            <a:ext cx="2859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013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(1 − load/cap)^1.15 + 0.05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06240" y="5230368"/>
            <a:ext cx="70679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013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Fairness is the term that changes behaviour: a full tutor drops down the heap, an idle tutor is lifted back into circulation.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6437376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7450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80" kern="0" dirty="0">
                <a:solidFill>
                  <a:srgbClr val="9A9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STUDENT-TUTOR MATCHMAKING / B.TECH SOFTWARE ENGINEERING / FUTO OWERRI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978286" y="6492240"/>
            <a:ext cx="755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94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METHODOLOGY · GREEDY ENGINE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638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Lazy recompute keeps fairness exact as seats fill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11276381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139696"/>
            <a:ext cx="8435889" cy="0"/>
          </a:xfrm>
          <a:prstGeom prst="line">
            <a:avLst/>
          </a:prstGeom>
          <a:noFill/>
          <a:ln w="19050">
            <a:solidFill>
              <a:srgbClr val="0E5F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84248"/>
            <a:ext cx="310896" cy="310896"/>
          </a:xfrm>
          <a:prstGeom prst="ellipse">
            <a:avLst/>
          </a:prstGeom>
          <a:solidFill>
            <a:srgbClr val="F6F3EE"/>
          </a:solidFill>
          <a:ln w="15875">
            <a:solidFill>
              <a:srgbClr val="0E5F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185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Filter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98064"/>
            <a:ext cx="1852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Subject, level, exam type and spare capacity must all pass.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31932" y="1984248"/>
            <a:ext cx="310896" cy="310896"/>
          </a:xfrm>
          <a:prstGeom prst="ellipse">
            <a:avLst/>
          </a:prstGeom>
          <a:solidFill>
            <a:srgbClr val="F6F3EE"/>
          </a:solidFill>
          <a:ln w="15875">
            <a:solidFill>
              <a:srgbClr val="0E5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1932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31932" y="2468880"/>
            <a:ext cx="185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31932" y="2798064"/>
            <a:ext cx="1852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Eligible pairs are scored and pushed onto a max-heap.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40904" y="1984248"/>
            <a:ext cx="310896" cy="310896"/>
          </a:xfrm>
          <a:prstGeom prst="ellipse">
            <a:avLst/>
          </a:prstGeom>
          <a:solidFill>
            <a:srgbClr val="F6F3EE"/>
          </a:solidFill>
          <a:ln w="15875">
            <a:solidFill>
              <a:srgbClr val="0E5F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0904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40904" y="2468880"/>
            <a:ext cx="185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40904" y="2798064"/>
            <a:ext cx="1852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best pair is assigned; one seat is consumed.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49876" y="1984248"/>
            <a:ext cx="310896" cy="310896"/>
          </a:xfrm>
          <a:prstGeom prst="ellipse">
            <a:avLst/>
          </a:prstGeom>
          <a:solidFill>
            <a:srgbClr val="0E5F5C"/>
          </a:solidFill>
          <a:ln w="15875">
            <a:solidFill>
              <a:srgbClr val="0E5F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9876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6F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49876" y="2468880"/>
            <a:ext cx="185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Refresh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49876" y="2798064"/>
            <a:ext cx="1852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that tutor’s stale pairs are rescored.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258849" y="1984248"/>
            <a:ext cx="310896" cy="310896"/>
          </a:xfrm>
          <a:prstGeom prst="ellipse">
            <a:avLst/>
          </a:prstGeom>
          <a:solidFill>
            <a:srgbClr val="F6F3EE"/>
          </a:solidFill>
          <a:ln w="15875">
            <a:solidFill>
              <a:srgbClr val="0E5F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58849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58849" y="2468880"/>
            <a:ext cx="185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Report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58849" y="2798064"/>
            <a:ext cx="1852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Unplaced students leave with a reason code.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7450531" cy="1325880"/>
          </a:xfrm>
          <a:prstGeom prst="roundRect">
            <a:avLst>
              <a:gd name="adj" fmla="val 13793"/>
            </a:avLst>
          </a:prstGeom>
          <a:solidFill>
            <a:srgbClr val="101314"/>
          </a:solidFill>
          <a:ln w="12700">
            <a:solidFill>
              <a:srgbClr val="1013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169664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LAZY BEATS STATIC SORTING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86384" y="4443984"/>
            <a:ext cx="668536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EB7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tutor’s fairness score goes stale the moment a seat is taken. Re-sorting every candidate after each placement is wasted work — re-pushing one tutor’s affected pairs keeps the term exact at a fraction of the cost.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8899" y="4023360"/>
            <a:ext cx="3624682" cy="1325880"/>
          </a:xfrm>
          <a:prstGeom prst="roundRect">
            <a:avLst>
              <a:gd name="adj" fmla="val 13793"/>
            </a:avLst>
          </a:prstGeom>
          <a:solidFill>
            <a:srgbClr val="DCE9E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9795" y="4151376"/>
            <a:ext cx="3050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0E5F5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2.28 s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419795" y="4754880"/>
            <a:ext cx="29551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013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 time to score 208,336 candidate pairs — 5,000 students, 500 tutors, O(n² log n).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6437376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7450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80" kern="0" dirty="0">
                <a:solidFill>
                  <a:srgbClr val="9A9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STUDENT-TUTOR MATCHMAKING / B.TECH SOFTWARE ENGINEERING / FUTO OWERRI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978286" y="6492240"/>
            <a:ext cx="755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94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RESULTS · MATCH QUALITY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638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Scoring lifts match quality at every contention level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7450531" cy="370332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pic>
        <p:nvPicPr>
          <p:cNvPr id="6" name="Image 0" descr="C:\Users\USER\Desktop\Final Year Research\project\docs\defence\_media\image-15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828800"/>
            <a:ext cx="6865315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" y="4901184"/>
            <a:ext cx="6865315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974336"/>
            <a:ext cx="40072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40" kern="0" dirty="0">
                <a:solidFill>
                  <a:srgbClr val="8B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F1 · MEAN SCORE BY STRATEGY, 95% CI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937760" y="4974336"/>
            <a:ext cx="2668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750" b="1" spc="4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 WHAT: SCORING WINS EVERYWHERE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108899" y="1572768"/>
            <a:ext cx="3624682" cy="1783080"/>
          </a:xfrm>
          <a:prstGeom prst="roundRect">
            <a:avLst>
              <a:gd name="adj" fmla="val 10256"/>
            </a:avLst>
          </a:prstGeom>
          <a:solidFill>
            <a:srgbClr val="DCE9E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9795" y="1700784"/>
            <a:ext cx="30508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dirty="0">
                <a:solidFill>
                  <a:srgbClr val="0E5F5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+0.07 to +0.18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419795" y="2340864"/>
            <a:ext cx="3050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Scoring beats filter-only matching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19795" y="2688336"/>
            <a:ext cx="3050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013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Mean-score gain at every contention ratio, p &lt; 0.0001 across 30 independent populations.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108899" y="3493008"/>
            <a:ext cx="3624682" cy="1783080"/>
          </a:xfrm>
          <a:prstGeom prst="roundRect">
            <a:avLst>
              <a:gd name="adj" fmla="val 10256"/>
            </a:avLst>
          </a:prstGeom>
          <a:solidFill>
            <a:srgbClr val="101314"/>
          </a:solidFill>
          <a:ln w="12700">
            <a:solidFill>
              <a:srgbClr val="10131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9795" y="3621024"/>
            <a:ext cx="30508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0" dirty="0">
                <a:solidFill>
                  <a:srgbClr val="2F9C93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0.506 vs 0.391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419795" y="4261104"/>
            <a:ext cx="3050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Fairer loads where capacity is slack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419795" y="4608576"/>
            <a:ext cx="3050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EB7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Jain’s fairness index at 1:1 — sessions spread across tutors instead of stacking one profile.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5413248"/>
            <a:ext cx="11276381" cy="777240"/>
          </a:xfrm>
          <a:prstGeom prst="roundRect">
            <a:avLst>
              <a:gd name="adj" fmla="val 23529"/>
            </a:avLst>
          </a:prstGeom>
          <a:solidFill>
            <a:srgbClr val="EDE7DD"/>
          </a:solidFill>
          <a:ln w="12700">
            <a:solidFill>
              <a:srgbClr val="EDE7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" y="5413248"/>
            <a:ext cx="105112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spc="50" kern="0" dirty="0">
                <a:solidFill>
                  <a:srgbClr val="5F63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METHOD: 30 INDEPENDENT SYNTHETIC POPULATIONS PER SCENARIO  ·  95% CONFIDENCE INTERVALS  ·  PAIRED SIGN TESTS  ·  EXACT MIN-COST-MAX-FLOW ORACLE AS THE REFERENCE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6437376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492240"/>
            <a:ext cx="7450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80" kern="0" dirty="0">
                <a:solidFill>
                  <a:srgbClr val="9A9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STUDENT-TUTOR MATCHMAKING / B.TECH SOFTWARE ENGINEERING / FUTO OWERRI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0978286" y="6492240"/>
            <a:ext cx="755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94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RESULTS · OPTIMALITY AND RUNTIME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638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Reaches 98.5–99.7% of the exact optimum — 17× faster at 5,000 students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6494069" cy="278892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pic>
        <p:nvPicPr>
          <p:cNvPr id="6" name="Image 0" descr="C:\Users\USER\Desktop\Final Year Research\project\docs\defence\_media\image-18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792224"/>
            <a:ext cx="5908853" cy="19933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968496"/>
            <a:ext cx="58245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40" kern="0" dirty="0">
                <a:solidFill>
                  <a:srgbClr val="8B8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F5 · ENGINE SCORE AS A SHARE OF THE EXACT OPTIMUM, BY SIZE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152437" y="1572768"/>
            <a:ext cx="4581144" cy="2788920"/>
          </a:xfrm>
          <a:prstGeom prst="roundRect">
            <a:avLst>
              <a:gd name="adj" fmla="val 6557"/>
            </a:avLst>
          </a:prstGeom>
          <a:solidFill>
            <a:srgbClr val="101314"/>
          </a:solidFill>
          <a:ln w="12700">
            <a:solidFill>
              <a:srgbClr val="1013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45045" y="1700784"/>
            <a:ext cx="36246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AND RUNTIME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45045" y="1938528"/>
            <a:ext cx="39116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Greedy engine vs exact solver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45045" y="22860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3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COHORT  S/T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9438437" y="228600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0352837" y="2286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3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445045" y="2505456"/>
            <a:ext cx="3986784" cy="0"/>
          </a:xfrm>
          <a:prstGeom prst="line">
            <a:avLst/>
          </a:prstGeom>
          <a:noFill/>
          <a:ln w="12700">
            <a:solidFill>
              <a:srgbClr val="2B31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45045" y="2542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7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1,000 / 100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438437" y="2542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169 ms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352837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266 ms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45045" y="2798064"/>
            <a:ext cx="3986784" cy="0"/>
          </a:xfrm>
          <a:prstGeom prst="line">
            <a:avLst/>
          </a:prstGeom>
          <a:noFill/>
          <a:ln w="12700">
            <a:solidFill>
              <a:srgbClr val="2B313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45045" y="2834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7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2,000 / 200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438437" y="2834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316 ms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352837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1,811 ms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445045" y="3090672"/>
            <a:ext cx="3986784" cy="0"/>
          </a:xfrm>
          <a:prstGeom prst="line">
            <a:avLst/>
          </a:prstGeom>
          <a:noFill/>
          <a:ln w="12700">
            <a:solidFill>
              <a:srgbClr val="2B31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45045" y="3127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7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5,000 / 500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438437" y="31272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1,619 ms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352837" y="3127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27,228 ms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445045" y="3438144"/>
            <a:ext cx="3986784" cy="0"/>
          </a:xfrm>
          <a:prstGeom prst="line">
            <a:avLst/>
          </a:prstGeom>
          <a:noFill/>
          <a:ln w="12700">
            <a:solidFill>
              <a:srgbClr val="2B31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45045" y="35295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dirty="0">
                <a:solidFill>
                  <a:srgbClr val="2F9C93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16.8×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8889797" y="351129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spc="30" kern="0" dirty="0">
                <a:solidFill>
                  <a:srgbClr val="889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 AT 5,000 STUDENTS. THE ORACLE ABANDONS AT 2,000 UNDER CONTENTION.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457200" y="4526280"/>
            <a:ext cx="11276381" cy="914400"/>
          </a:xfrm>
          <a:prstGeom prst="roundRect">
            <a:avLst>
              <a:gd name="adj" fmla="val 20000"/>
            </a:avLst>
          </a:prstGeom>
          <a:solidFill>
            <a:srgbClr val="F0E2D6"/>
          </a:solidFill>
          <a:ln w="12700">
            <a:solidFill>
              <a:srgbClr val="F0E2D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4690872"/>
            <a:ext cx="45720" cy="585216"/>
          </a:xfrm>
          <a:prstGeom prst="rect">
            <a:avLst/>
          </a:prstGeom>
          <a:solidFill>
            <a:srgbClr val="A6602F"/>
          </a:solidFill>
          <a:ln w="12700">
            <a:solidFill>
              <a:srgbClr val="A6602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" y="4663440"/>
            <a:ext cx="26682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A660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STATED LIMIT — NOT HIDDEN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86384" y="4937760"/>
            <a:ext cx="105112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013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worst-served student still sits about 0.02 below the achievable floor. The defect is structural, and closing it costs ≤ 0.0003 per student.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57200" y="6437376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6492240"/>
            <a:ext cx="7450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80" kern="0" dirty="0">
                <a:solidFill>
                  <a:srgbClr val="9A9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STUDENT-TUTOR MATCHMAKING / B.TECH SOFTWARE ENGINEERING / FUTO OWERRI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10978286" y="6492240"/>
            <a:ext cx="755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940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CONCLUSION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638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7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Four questions answered — one structural limit stated openly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2668219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45720" cy="274320"/>
          </a:xfrm>
          <a:prstGeom prst="rect">
            <a:avLst/>
          </a:prstGeom>
          <a:solidFill>
            <a:srgbClr val="0E5F5C"/>
          </a:solidFill>
          <a:ln w="12700">
            <a:solidFill>
              <a:srgbClr val="0E5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2121408"/>
            <a:ext cx="21561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Yes, decisively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706624"/>
            <a:ext cx="21561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+0.067 to +0.182 mean score over filter-only FCFS at every ratio, p &lt; 0.0001.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26587" y="1572768"/>
            <a:ext cx="2668219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6587" y="1737360"/>
            <a:ext cx="45720" cy="274320"/>
          </a:xfrm>
          <a:prstGeom prst="rect">
            <a:avLst/>
          </a:prstGeom>
          <a:solidFill>
            <a:srgbClr val="0E5F5C"/>
          </a:solidFill>
          <a:ln w="12700">
            <a:solidFill>
              <a:srgbClr val="0E5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2619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82619" y="2121408"/>
            <a:ext cx="21561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Wins under contention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82619" y="2706624"/>
            <a:ext cx="21561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at 1:1 (p = 0.86), then +0.019 at 3:1 and +0.124 at 10:1.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5974" y="1572768"/>
            <a:ext cx="2668219" cy="2011680"/>
          </a:xfrm>
          <a:prstGeom prst="roundRect">
            <a:avLst>
              <a:gd name="adj" fmla="val 9091"/>
            </a:avLst>
          </a:prstGeom>
          <a:solidFill>
            <a:srgbClr val="101314"/>
          </a:solidFill>
          <a:ln w="12700">
            <a:solidFill>
              <a:srgbClr val="1013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5974" y="1737360"/>
            <a:ext cx="45720" cy="274320"/>
          </a:xfrm>
          <a:prstGeom prst="rect">
            <a:avLst/>
          </a:prstGeom>
          <a:solidFill>
            <a:srgbClr val="2F9C93"/>
          </a:solidFill>
          <a:ln w="12700">
            <a:solidFill>
              <a:srgbClr val="2F9C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2006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52006" y="2121408"/>
            <a:ext cx="21561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98.5 – 99.7%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2006" y="2706624"/>
            <a:ext cx="21561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EB7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the oracle’s static total after repair; coverage within 0.0011 of optimal.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65362" y="1572768"/>
            <a:ext cx="2668219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B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65362" y="1737360"/>
            <a:ext cx="45720" cy="274320"/>
          </a:xfrm>
          <a:prstGeom prst="rect">
            <a:avLst/>
          </a:prstGeom>
          <a:solidFill>
            <a:srgbClr val="0E5F5C"/>
          </a:solidFill>
          <a:ln w="12700">
            <a:solidFill>
              <a:srgbClr val="0E5F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1394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21394" y="2121408"/>
            <a:ext cx="21561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013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Fairness is affordable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21394" y="2706624"/>
            <a:ext cx="21561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0.012–0.023 mean-score cost at 2–3:1; the worst-student floor costs ≤ 0.0003.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67328"/>
            <a:ext cx="6494069" cy="1389888"/>
          </a:xfrm>
          <a:prstGeom prst="roundRect">
            <a:avLst>
              <a:gd name="adj" fmla="val 13158"/>
            </a:avLst>
          </a:prstGeom>
          <a:solidFill>
            <a:srgbClr val="DCE9E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3913632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CONTRIBUTION TO KNOWLEDGE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6384" y="4169664"/>
            <a:ext cx="572889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013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scoring-and-availability model whose fairness term stays exact at run time — plus two claims rescoped honestly when the evidence did not hold.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52437" y="3767328"/>
            <a:ext cx="4581144" cy="1389888"/>
          </a:xfrm>
          <a:prstGeom prst="roundRect">
            <a:avLst>
              <a:gd name="adj" fmla="val 13158"/>
            </a:avLst>
          </a:prstGeom>
          <a:solidFill>
            <a:srgbClr val="EDE7DD"/>
          </a:solidFill>
          <a:ln w="12700">
            <a:solidFill>
              <a:srgbClr val="EDE7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45045" y="3913632"/>
            <a:ext cx="36246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b="1" spc="120" kern="0" dirty="0">
                <a:solidFill>
                  <a:srgbClr val="5F63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COMES NEXT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45045" y="4169664"/>
            <a:ext cx="39116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3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learned compatibility model with fairness kept exogenous, equity profiles per region and subject, and this protocol re-run on real assignment history.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358384"/>
            <a:ext cx="11276381" cy="868680"/>
          </a:xfrm>
          <a:prstGeom prst="roundRect">
            <a:avLst>
              <a:gd name="adj" fmla="val 21053"/>
            </a:avLst>
          </a:prstGeom>
          <a:solidFill>
            <a:srgbClr val="101314"/>
          </a:solidFill>
          <a:ln w="12700">
            <a:solidFill>
              <a:srgbClr val="1013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358384"/>
            <a:ext cx="745053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dirty="0">
                <a:solidFill>
                  <a:srgbClr val="F6F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Thank you — we welcome your questions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138160" y="5358384"/>
            <a:ext cx="2859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00" spc="60" kern="0" dirty="0">
                <a:solidFill>
                  <a:srgbClr val="2F9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FIGURE REGENERATES: pnpm run eval:all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6437376"/>
            <a:ext cx="11276381" cy="0"/>
          </a:xfrm>
          <a:prstGeom prst="line">
            <a:avLst/>
          </a:prstGeom>
          <a:noFill/>
          <a:ln w="12700">
            <a:solidFill>
              <a:srgbClr val="E2DB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7450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spc="80" kern="0" dirty="0">
                <a:solidFill>
                  <a:srgbClr val="9A9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STUDENT-TUTOR MATCHMAKING / B.TECH SOFTWARE ENGINEERING / FUTO OWERRI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978286" y="6492240"/>
            <a:ext cx="755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E5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Federal University of Technology Owerri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Multi-Criteria Student-Tutor Matchmaking System</dc:title>
  <dc:subject>PptxGenJS Presentation</dc:subject>
  <dc:creator>Anumudu Udochukwu Samuel; Obi Michael Chimaobi</dc:creator>
  <cp:lastModifiedBy>Anumudu Udochukwu Samuel; Obi Michael Chimaobi</cp:lastModifiedBy>
  <cp:revision>1</cp:revision>
  <dcterms:created xsi:type="dcterms:W3CDTF">2026-09-28T15:46:50Z</dcterms:created>
  <dcterms:modified xsi:type="dcterms:W3CDTF">2026-09-28T15:46:50Z</dcterms:modified>
</cp:coreProperties>
</file>